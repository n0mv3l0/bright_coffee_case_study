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6B3F1D"/>
              </a:solidFill>
              <a:ln>
                <a:noFill/>
              </a:ln>
            </c:spPr>
          </c:dPt>
          <c:dPt>
            <c:idx val="1"/>
            <c:spPr>
              <a:solidFill>
                <a:srgbClr val="C88A4A"/>
              </a:solidFill>
              <a:ln>
                <a:noFill/>
              </a:ln>
            </c:spPr>
          </c:dPt>
          <c:dPt>
            <c:idx val="2"/>
            <c:spPr>
              <a:solidFill>
                <a:srgbClr val="8B552E"/>
              </a:solidFill>
              <a:ln>
                <a:noFill/>
              </a:ln>
            </c:spPr>
          </c:dPt>
          <c:dPt>
            <c:idx val="3"/>
            <c:spPr>
              <a:solidFill>
                <a:srgbClr val="D4A86B"/>
              </a:solidFill>
              <a:ln>
                <a:noFill/>
              </a:ln>
            </c:spPr>
          </c:dPt>
          <c:dPt>
            <c:idx val="4"/>
            <c:spPr>
              <a:solidFill>
                <a:srgbClr val="2E1A0C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81677.74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90955.44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C88A4A"/>
              </a:solidFill>
              <a:ln>
                <a:noFill/>
              </a:ln>
            </c:spPr>
          </c:dPt>
          <c:dPt>
            <c:idx val="1"/>
            <c:spPr>
              <a:solidFill>
                <a:srgbClr val="C88A4A"/>
              </a:solidFill>
              <a:ln>
                <a:noFill/>
              </a:ln>
            </c:spPr>
          </c:dPt>
          <c:dPt>
            <c:idx val="2"/>
            <c:spPr>
              <a:solidFill>
                <a:srgbClr val="C88A4A"/>
              </a:solidFill>
              <a:ln>
                <a:noFill/>
              </a:ln>
            </c:spPr>
          </c:dPt>
          <c:dPt>
            <c:idx val="3"/>
            <c:spPr>
              <a:solidFill>
                <a:srgbClr val="C88A4A"/>
              </a:solidFill>
              <a:ln>
                <a:noFill/>
              </a:ln>
            </c:spPr>
          </c:dPt>
          <c:dPt>
            <c:idx val="4"/>
            <c:spPr>
              <a:solidFill>
                <a:srgbClr val="C88A4A"/>
              </a:solidFill>
              <a:ln>
                <a:noFill/>
              </a:ln>
            </c:spPr>
          </c:dPt>
          <c:dPt>
            <c:idx val="5"/>
            <c:spPr>
              <a:solidFill>
                <a:srgbClr val="C88A4A"/>
              </a:solidFill>
              <a:ln>
                <a:noFill/>
              </a:ln>
            </c:spPr>
          </c:dPt>
          <c:dPt>
            <c:idx val="6"/>
            <c:spPr>
              <a:solidFill>
                <a:srgbClr val="C88A4A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69656.96</c:v>
                </c:pt>
                <c:pt idx="1">
                  <c:v>67118.98</c:v>
                </c:pt>
                <c:pt idx="2">
                  <c:v>68981.06</c:v>
                </c:pt>
                <c:pt idx="3">
                  <c:v>68286.25</c:v>
                </c:pt>
                <c:pt idx="4">
                  <c:v>63075.78</c:v>
                </c:pt>
                <c:pt idx="5">
                  <c:v>62998.95</c:v>
                </c:pt>
                <c:pt idx="6">
                  <c:v>66436.15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6B3F1D"/>
              </a:solidFill>
              <a:ln>
                <a:noFill/>
              </a:ln>
            </c:spPr>
          </c:dPt>
          <c:dPt>
            <c:idx val="1"/>
            <c:spPr>
              <a:solidFill>
                <a:srgbClr val="C88A4A"/>
              </a:solidFill>
              <a:ln>
                <a:noFill/>
              </a:ln>
            </c:spPr>
          </c:dPt>
          <c:dPt>
            <c:idx val="2"/>
            <c:spPr>
              <a:solidFill>
                <a:srgbClr val="8B552E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159219.28</c:v>
                </c:pt>
                <c:pt idx="1">
                  <c:v>154755.58</c:v>
                </c:pt>
                <c:pt idx="2">
                  <c:v>152579.27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spPr>
              <a:solidFill>
                <a:srgbClr val="6B3F1D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88A4A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B552E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D4A86B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2E1A0C"/>
              </a:solidFill>
              <a:ln w="19050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8D4B4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Chocolate</c:v>
                </c:pt>
                <c:pt idx="4">
                  <c:v>Coffee beans</c:v>
                </c:pt>
                <c:pt idx="5">
                  <c:v>Branded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179388.15</c:v>
                </c:pt>
                <c:pt idx="1">
                  <c:v>131354.75</c:v>
                </c:pt>
                <c:pt idx="2">
                  <c:v>55464.77</c:v>
                </c:pt>
                <c:pt idx="3">
                  <c:v>48592.25</c:v>
                </c:pt>
                <c:pt idx="4">
                  <c:v>26469.55</c:v>
                </c:pt>
                <c:pt idx="5">
                  <c:v>8956.0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8A4A"/>
                </a:solidFill>
                <a:latin typeface="Calibri"/>
              </a:rPr>
              <a:t>CASE STUDY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7F1E6"/>
                </a:solidFill>
                <a:latin typeface="Calibri"/>
              </a:rPr>
              <a:t>Bright Coffee Shop</a:t>
            </a:r>
          </a:p>
          <a:p>
            <a:pPr algn="l"/>
            <a:r>
              <a:rPr sz="6000" b="1">
                <a:solidFill>
                  <a:srgbClr val="F7F1E6"/>
                </a:solidFill>
                <a:latin typeface="Calibri"/>
              </a:rPr>
              <a:t>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E8D4B4"/>
                </a:solidFill>
                <a:latin typeface="Calibri"/>
              </a:rPr>
              <a:t>Turning 100,000 transactions into a growth plan for the new CEO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12080"/>
            <a:ext cx="2194560" cy="960120"/>
          </a:xfrm>
          <a:prstGeom prst="roundRect">
            <a:avLst>
              <a:gd name="adj" fmla="val 15000"/>
            </a:avLst>
          </a:prstGeom>
          <a:solidFill>
            <a:srgbClr val="553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3218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C88A4A"/>
                </a:solidFill>
                <a:latin typeface="Calibri"/>
              </a:rPr>
              <a:t>$466K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E8D4B4"/>
                </a:solidFill>
                <a:latin typeface="Calibri"/>
              </a:rPr>
              <a:t>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5212080"/>
            <a:ext cx="2194560" cy="960120"/>
          </a:xfrm>
          <a:prstGeom prst="roundRect">
            <a:avLst>
              <a:gd name="adj" fmla="val 15000"/>
            </a:avLst>
          </a:prstGeom>
          <a:solidFill>
            <a:srgbClr val="553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53218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C88A4A"/>
                </a:solidFill>
                <a:latin typeface="Calibri"/>
              </a:rPr>
              <a:t>100K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760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E8D4B4"/>
                </a:solidFill>
                <a:latin typeface="Calibri"/>
              </a:rPr>
              <a:t>Transactions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5212080"/>
            <a:ext cx="2194560" cy="960120"/>
          </a:xfrm>
          <a:prstGeom prst="roundRect">
            <a:avLst>
              <a:gd name="adj" fmla="val 15000"/>
            </a:avLst>
          </a:prstGeom>
          <a:solidFill>
            <a:srgbClr val="553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53218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C88A4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5760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E8D4B4"/>
                </a:solidFill>
                <a:latin typeface="Calibri"/>
              </a:rPr>
              <a:t>NYC Stores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5212080"/>
            <a:ext cx="2194560" cy="960120"/>
          </a:xfrm>
          <a:prstGeom prst="roundRect">
            <a:avLst>
              <a:gd name="adj" fmla="val 15000"/>
            </a:avLst>
          </a:prstGeom>
          <a:solidFill>
            <a:srgbClr val="553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0" y="5321808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C88A4A"/>
                </a:solidFill>
                <a:latin typeface="Calibri"/>
              </a:rPr>
              <a:t>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57607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E8D4B4"/>
                </a:solidFill>
                <a:latin typeface="Calibri"/>
              </a:rPr>
              <a:t>SKUs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D4B4"/>
                </a:solidFill>
                <a:latin typeface="Calibri"/>
              </a:rPr>
              <a:t>Junior Data Analyst  ·  Presentation to the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320040"/>
          </a:xfrm>
          <a:prstGeom prst="rect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8A4A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840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5B4A"/>
                </a:solidFill>
                <a:latin typeface="Calibri"/>
              </a:rPr>
              <a:t>Bright Coffee · 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3B2414"/>
                </a:solidFill>
                <a:latin typeface="Calibri"/>
              </a:rPr>
              <a:t>What we'll cover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822960" cy="640080"/>
          </a:xfrm>
          <a:prstGeom prst="roundRect">
            <a:avLst>
              <a:gd name="adj" fmla="val 25000"/>
            </a:avLst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105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2414"/>
                </a:solidFill>
                <a:latin typeface="Calibri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48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Who Bright Coffee is and what the CEO asked 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42032"/>
            <a:ext cx="822960" cy="640080"/>
          </a:xfrm>
          <a:prstGeom prst="roundRect">
            <a:avLst>
              <a:gd name="adj" fmla="val 25000"/>
            </a:avLst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237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2414"/>
                </a:solidFill>
                <a:latin typeface="Calibri"/>
              </a:rPr>
              <a:t>Approach &amp;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6207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How 100k transactions were processed and modeled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822960" cy="640080"/>
          </a:xfrm>
          <a:prstGeom prst="roundRect">
            <a:avLst>
              <a:gd name="adj" fmla="val 25000"/>
            </a:avLst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5526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2369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2414"/>
                </a:solidFill>
                <a:latin typeface="Calibri"/>
              </a:rPr>
              <a:t>Headline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57530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Revenue, orders, AOV and store footprint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68496"/>
            <a:ext cx="822960" cy="640080"/>
          </a:xfrm>
          <a:prstGeom prst="roundRect">
            <a:avLst>
              <a:gd name="adj" fmla="val 25000"/>
            </a:avLst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68496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502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2414"/>
                </a:solidFill>
                <a:latin typeface="Calibri"/>
              </a:rPr>
              <a:t>Sales trends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8853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Monthly, daily and day-of-week performance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81728"/>
            <a:ext cx="822960" cy="640080"/>
          </a:xfrm>
          <a:prstGeom prst="roundRect">
            <a:avLst>
              <a:gd name="adj" fmla="val 25000"/>
            </a:avLst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681728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63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2414"/>
                </a:solidFill>
                <a:latin typeface="Calibri"/>
              </a:rPr>
              <a:t>Product &amp;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00176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Category mix, top sellers, store rankings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94960"/>
            <a:ext cx="822960" cy="640080"/>
          </a:xfrm>
          <a:prstGeom prst="roundRect">
            <a:avLst>
              <a:gd name="adj" fmla="val 25000"/>
            </a:avLst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3766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2414"/>
                </a:solidFill>
                <a:latin typeface="Calibri"/>
              </a:rPr>
              <a:t>Recommendations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715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What to do next to grow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5B4A"/>
                </a:solidFill>
                <a:latin typeface="Calibri"/>
              </a:rPr>
              <a:t>Prepared for the CEO · Bright Coffee Shop Sales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5B4A"/>
                </a:solidFill>
                <a:latin typeface="Calibr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320040"/>
          </a:xfrm>
          <a:prstGeom prst="rect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8A4A"/>
                </a:solidFill>
                <a:latin typeface="Calibri"/>
              </a:rPr>
              <a:t>01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840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5B4A"/>
                </a:solidFill>
                <a:latin typeface="Calibri"/>
              </a:rPr>
              <a:t>Bright Coffee · 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B2414"/>
                </a:solidFill>
                <a:latin typeface="Calibri"/>
              </a:rPr>
              <a:t>The CEO wants revenue growth — 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5B4A"/>
                </a:solidFill>
                <a:latin typeface="Calibri"/>
              </a:rPr>
              <a:t>Bright Coffee's new CEO has one goal: grow revenue and improve product performance across its three NYC stores.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685800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B2414"/>
                </a:solidFill>
                <a:latin typeface="Calibri"/>
              </a:rPr>
              <a:t>Questions we set out to answer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355848"/>
            <a:ext cx="128016" cy="128016"/>
          </a:xfrm>
          <a:prstGeom prst="ellipse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2414"/>
                </a:solidFill>
                <a:latin typeface="Calibri"/>
              </a:rPr>
              <a:t>Which products generate the most revenue?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0208"/>
            <a:ext cx="128016" cy="128016"/>
          </a:xfrm>
          <a:prstGeom prst="ellipse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2414"/>
                </a:solidFill>
                <a:latin typeface="Calibri"/>
              </a:rPr>
              <a:t>How does performance vary by store and by day of week?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544568"/>
            <a:ext cx="128016" cy="128016"/>
          </a:xfrm>
          <a:prstGeom prst="ellipse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2414"/>
                </a:solidFill>
                <a:latin typeface="Calibri"/>
              </a:rPr>
              <a:t>Where are the sales trends heading month over month?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5138928"/>
            <a:ext cx="128016" cy="128016"/>
          </a:xfrm>
          <a:prstGeom prst="ellipse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292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2414"/>
                </a:solidFill>
                <a:latin typeface="Calibri"/>
              </a:rPr>
              <a:t>Where should we invest marketing and stock next?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651760"/>
            <a:ext cx="4114800" cy="3474720"/>
          </a:xfrm>
          <a:prstGeom prst="roundRect">
            <a:avLst>
              <a:gd name="adj" fmla="val 5000"/>
            </a:avLst>
          </a:prstGeom>
          <a:solidFill>
            <a:srgbClr val="3B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788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8A4A"/>
                </a:solidFill>
                <a:latin typeface="Calibri"/>
              </a:rP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200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8D4B4"/>
                </a:solidFill>
                <a:latin typeface="Calibri"/>
              </a:rPr>
              <a:t>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4564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Jan – May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7673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8D4B4"/>
                </a:solidFill>
                <a:latin typeface="Calibri"/>
              </a:rPr>
              <a:t>STORES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Astoria · Hell's Kitchen · L. Manhattan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33425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8D4B4"/>
                </a:solidFill>
                <a:latin typeface="Calibri"/>
              </a:rPr>
              <a:t>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5902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100,000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9011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8D4B4"/>
                </a:solidFill>
                <a:latin typeface="Calibri"/>
              </a:rPr>
              <a:t>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515721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80 unique SKUs, 9 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54681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8D4B4"/>
                </a:solidFill>
                <a:latin typeface="Calibri"/>
              </a:rPr>
              <a:t>TOTAL 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7241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$466,554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5B4A"/>
                </a:solidFill>
                <a:latin typeface="Calibri"/>
              </a:rPr>
              <a:t>Prepared for the CEO · Bright Coffee Shop Sales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5B4A"/>
                </a:solidFill>
                <a:latin typeface="Calibr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320040"/>
          </a:xfrm>
          <a:prstGeom prst="rect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8A4A"/>
                </a:solidFill>
                <a:latin typeface="Calibri"/>
              </a:rPr>
              <a:t>02 ·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840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5B4A"/>
                </a:solidFill>
                <a:latin typeface="Calibri"/>
              </a:rPr>
              <a:t>Bright Coffee · 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B2414"/>
                </a:solidFill>
                <a:latin typeface="Calibri"/>
              </a:rPr>
              <a:t>From raw Excel to decision-ready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7889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8A4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2414"/>
                </a:solidFill>
                <a:latin typeface="Calibr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Excel workbook of transactional sales data (100k rows).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011680"/>
            <a:ext cx="27889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945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8A4A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803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2414"/>
                </a:solidFill>
                <a:latin typeface="Calibri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38328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Loaded via DuckDB; cleaned prices, added time buckets, computed totals.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27889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8A4A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803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2414"/>
                </a:solidFill>
                <a:latin typeface="Calibri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Aggregated by store, category, product, month and day of week.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011680"/>
            <a:ext cx="27889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1945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C88A4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88036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2414"/>
                </a:solidFill>
                <a:latin typeface="Calibri"/>
              </a:rPr>
              <a:t>Present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38328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Interactive dashboard + AI data agent for ad-hoc questions.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86400"/>
            <a:ext cx="11247120" cy="685800"/>
          </a:xfrm>
          <a:prstGeom prst="roundRect">
            <a:avLst>
              <a:gd name="adj" fmla="val 15000"/>
            </a:avLst>
          </a:prstGeom>
          <a:solidFill>
            <a:srgbClr val="E8D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3B2414"/>
                </a:solidFill>
                <a:latin typeface="Calibri"/>
              </a:rPr>
              <a:t>Deliverables: processed dataset, interactive dashboard, AI data agent, and this executive readout.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5B4A"/>
                </a:solidFill>
                <a:latin typeface="Calibri"/>
              </a:rPr>
              <a:t>Prepared for the CEO · Bright Coffee Shop Sales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5B4A"/>
                </a:solidFill>
                <a:latin typeface="Calibr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320040"/>
          </a:xfrm>
          <a:prstGeom prst="rect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8A4A"/>
                </a:solidFill>
                <a:latin typeface="Calibri"/>
              </a:rPr>
              <a:t>03 · HEADLINE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840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5B4A"/>
                </a:solidFill>
                <a:latin typeface="Calibri"/>
              </a:rPr>
              <a:t>Bright Coffee · 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B2414"/>
                </a:solidFill>
                <a:latin typeface="Calibri"/>
              </a:rPr>
              <a:t>The numbers behind five months of trading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78892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8A4A"/>
                </a:solidFill>
                <a:latin typeface="Calibri"/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3B2414"/>
                </a:solidFill>
                <a:latin typeface="Calibri"/>
              </a:rPr>
              <a:t>$466,554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5B4A"/>
                </a:solidFill>
                <a:latin typeface="Calibri"/>
              </a:rPr>
              <a:t>100,000 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920240"/>
            <a:ext cx="278892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031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8A4A"/>
                </a:solidFill>
                <a:latin typeface="Calibri"/>
              </a:rPr>
              <a:t>UNITS SOLD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3B2414"/>
                </a:solidFill>
                <a:latin typeface="Calibri"/>
              </a:rPr>
              <a:t>143,225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004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5B4A"/>
                </a:solidFill>
                <a:latin typeface="Calibri"/>
              </a:rPr>
              <a:t>80 unique SKUs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920240"/>
            <a:ext cx="278892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8A4A"/>
                </a:solidFill>
                <a:latin typeface="Calibri"/>
              </a:rPr>
              <a:t>AVG. ORDER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3B2414"/>
                </a:solidFill>
                <a:latin typeface="Calibri"/>
              </a:rPr>
              <a:t>$4.67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004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5B4A"/>
                </a:solidFill>
                <a:latin typeface="Calibri"/>
              </a:rPr>
              <a:t>Per transaction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920240"/>
            <a:ext cx="278892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210312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88A4A"/>
                </a:solidFill>
                <a:latin typeface="Calibri"/>
              </a:rPr>
              <a:t>NYC STORES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46888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3B2414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2004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5B4A"/>
                </a:solidFill>
                <a:latin typeface="Calibri"/>
              </a:rPr>
              <a:t>Astoria · Hell's Kitchen · L. Manhattan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31920"/>
            <a:ext cx="11247120" cy="2194560"/>
          </a:xfrm>
          <a:prstGeom prst="roundRect">
            <a:avLst>
              <a:gd name="adj" fmla="val 5000"/>
            </a:avLst>
          </a:prstGeom>
          <a:solidFill>
            <a:srgbClr val="3B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8A4A"/>
                </a:solidFill>
                <a:latin typeface="Calibri"/>
              </a:rPr>
              <a:t>SO WHAT?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Bright Coffee is running at ~$93K revenue per month with a very low $4.67 average order value.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Growing AOV by even $0.50 across current traffic would add ~$50K in incremental revenue over the same period.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5B4A"/>
                </a:solidFill>
                <a:latin typeface="Calibri"/>
              </a:rPr>
              <a:t>Prepared for the CEO · Bright Coffee Shop Sales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5B4A"/>
                </a:solidFill>
                <a:latin typeface="Calibr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320040"/>
          </a:xfrm>
          <a:prstGeom prst="rect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8A4A"/>
                </a:solidFill>
                <a:latin typeface="Calibri"/>
              </a:rPr>
              <a:t>04 · SALES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840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5B4A"/>
                </a:solidFill>
                <a:latin typeface="Calibri"/>
              </a:rPr>
              <a:t>Bright Coffee · 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B2414"/>
                </a:solidFill>
                <a:latin typeface="Calibri"/>
              </a:rPr>
              <a:t>Sales are climbing — with a mid-week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76072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B2414"/>
                </a:solidFill>
                <a:latin typeface="Calibri"/>
              </a:rPr>
              <a:t>Revenue by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5B4A"/>
                </a:solidFill>
                <a:latin typeface="Calibri"/>
              </a:rPr>
              <a:t>Jan – May 2023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2606040"/>
          <a:ext cx="55778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0" y="1783080"/>
            <a:ext cx="530352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B2414"/>
                </a:solidFill>
                <a:latin typeface="Calibri"/>
              </a:rPr>
              <a:t>Revenue by day of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240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5B4A"/>
                </a:solidFill>
                <a:latin typeface="Calibri"/>
              </a:rPr>
              <a:t>Ordered Mon → Sun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492240" y="2606040"/>
          <a:ext cx="512064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57200" y="6172200"/>
            <a:ext cx="11247120" cy="256032"/>
          </a:xfrm>
          <a:prstGeom prst="roundRect">
            <a:avLst>
              <a:gd name="adj" fmla="val 30000"/>
            </a:avLst>
          </a:prstGeom>
          <a:solidFill>
            <a:srgbClr val="E8D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B2414"/>
                </a:solidFill>
                <a:latin typeface="Calibri"/>
              </a:rPr>
              <a:t>  Insight: April is the peak month (+56% vs. February). Weekdays (Mon–Thu) generate 72% of all revenue.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5B4A"/>
                </a:solidFill>
                <a:latin typeface="Calibri"/>
              </a:rPr>
              <a:t>Prepared for the CEO · Bright Coffee Shop Sales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5B4A"/>
                </a:solidFill>
                <a:latin typeface="Calibr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320040"/>
          </a:xfrm>
          <a:prstGeom prst="rect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8A4A"/>
                </a:solidFill>
                <a:latin typeface="Calibri"/>
              </a:rPr>
              <a:t>05 · STORES &amp;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840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5B4A"/>
                </a:solidFill>
                <a:latin typeface="Calibri"/>
              </a:rPr>
              <a:t>Bright Coffee · 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2414"/>
                </a:solidFill>
                <a:latin typeface="Calibri"/>
              </a:rPr>
              <a:t>Three stores neck-and-neck; coffee &amp; tea dominate the mix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76072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B2414"/>
                </a:solidFill>
                <a:latin typeface="Calibri"/>
              </a:rPr>
              <a:t>Revenue by store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2468880"/>
          <a:ext cx="557784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0" y="1783080"/>
            <a:ext cx="530352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B2414"/>
                </a:solidFill>
                <a:latin typeface="Calibri"/>
              </a:rPr>
              <a:t>Category share of revenue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00800" y="2331720"/>
          <a:ext cx="530352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57200" y="6172200"/>
            <a:ext cx="11247120" cy="256032"/>
          </a:xfrm>
          <a:prstGeom prst="roundRect">
            <a:avLst>
              <a:gd name="adj" fmla="val 30000"/>
            </a:avLst>
          </a:prstGeom>
          <a:solidFill>
            <a:srgbClr val="E8D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14476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B2414"/>
                </a:solidFill>
                <a:latin typeface="Calibri"/>
              </a:rPr>
              <a:t>  Insight: Coffee (38%) + Tea (28%) = two-thirds of revenue. Hell's Kitchen leads by a hair.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5B4A"/>
                </a:solidFill>
                <a:latin typeface="Calibri"/>
              </a:rPr>
              <a:t>Prepared for the CEO · Bright Coffee Shop Sales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5B4A"/>
                </a:solidFill>
                <a:latin typeface="Calibr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320040"/>
          </a:xfrm>
          <a:prstGeom prst="rect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8A4A"/>
                </a:solidFill>
                <a:latin typeface="Calibri"/>
              </a:rPr>
              <a:t>05 · TOP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840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5B4A"/>
                </a:solidFill>
                <a:latin typeface="Calibri"/>
              </a:rPr>
              <a:t>Bright Coffee · 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B2414"/>
                </a:solidFill>
                <a:latin typeface="Calibri"/>
              </a:rPr>
              <a:t>The 10 SKUs driving the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5B4A"/>
                </a:solidFill>
                <a:latin typeface="Calibri"/>
              </a:rPr>
              <a:t>Drinking chocolate &amp; specialty coffee lead — a clear upsell story.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488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480560"/>
                <a:gridCol w="2743200"/>
                <a:gridCol w="1554480"/>
                <a:gridCol w="1920240"/>
              </a:tblGrid>
              <a:tr h="374072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C88A4A"/>
                          </a:solidFill>
                        </a:rPr>
                        <a:t>#</a:t>
                      </a:r>
                    </a:p>
                  </a:txBody>
                  <a:tcPr marL="137160" marR="137160" marT="73152" marB="73152">
                    <a:solidFill>
                      <a:srgbClr val="3B2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C88A4A"/>
                          </a:solidFill>
                        </a:rPr>
                        <a:t>Product</a:t>
                      </a:r>
                    </a:p>
                  </a:txBody>
                  <a:tcPr marL="137160" marR="137160" marT="73152" marB="73152">
                    <a:solidFill>
                      <a:srgbClr val="3B2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C88A4A"/>
                          </a:solidFill>
                        </a:rPr>
                        <a:t>Category</a:t>
                      </a:r>
                    </a:p>
                  </a:txBody>
                  <a:tcPr marL="137160" marR="137160" marT="73152" marB="73152">
                    <a:solidFill>
                      <a:srgbClr val="3B241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>
                          <a:solidFill>
                            <a:srgbClr val="C88A4A"/>
                          </a:solidFill>
                        </a:rPr>
                        <a:t>Units</a:t>
                      </a:r>
                    </a:p>
                  </a:txBody>
                  <a:tcPr marL="137160" marR="137160" marT="73152" marB="73152">
                    <a:solidFill>
                      <a:srgbClr val="3B241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200">
                          <a:solidFill>
                            <a:srgbClr val="C88A4A"/>
                          </a:solidFill>
                        </a:rPr>
                        <a:t>Revenue</a:t>
                      </a:r>
                    </a:p>
                  </a:txBody>
                  <a:tcPr marL="137160" marR="137160" marT="73152" marB="73152">
                    <a:solidFill>
                      <a:srgbClr val="3B241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1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B2414"/>
                          </a:solidFill>
                        </a:rPr>
                        <a:t>Dark chocolate Lg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Drinking Chocolate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3,155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$14,198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2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B2414"/>
                          </a:solidFill>
                        </a:rPr>
                        <a:t>Sustainably Grown Organic Lg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Drinking Chocolate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2,966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$14,088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3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B2414"/>
                          </a:solidFill>
                        </a:rPr>
                        <a:t>Latte Rg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Coffee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2,972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$12,631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4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B2414"/>
                          </a:solidFill>
                        </a:rPr>
                        <a:t>Cappuccino Lg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Coffee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2,778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$11,806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5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B2414"/>
                          </a:solidFill>
                        </a:rPr>
                        <a:t>Latte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Coffee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3,070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$11,512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6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B2414"/>
                          </a:solidFill>
                        </a:rPr>
                        <a:t>Morning Sunrise Chai Lg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Tea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2,877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$11,508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7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B2414"/>
                          </a:solidFill>
                        </a:rPr>
                        <a:t>Sustainably Grown Organic Rg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Drinking Chocolate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2,937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$11,014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8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B2414"/>
                          </a:solidFill>
                        </a:rPr>
                        <a:t>Jamaican Coffee River Lg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Coffee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2,933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$10,999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9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B2414"/>
                          </a:solidFill>
                        </a:rPr>
                        <a:t>Cappuccino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Coffee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2,833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$10,624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10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B2414"/>
                          </a:solidFill>
                        </a:rPr>
                        <a:t>Brazilian Lg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B2414"/>
                          </a:solidFill>
                        </a:rPr>
                        <a:t>Coffee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2,894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B2414"/>
                          </a:solidFill>
                        </a:rPr>
                        <a:t>$10,129</a:t>
                      </a:r>
                    </a:p>
                  </a:txBody>
                  <a:tcPr marL="137160" marR="137160" marT="54864" marB="54864">
                    <a:solidFill>
                      <a:srgbClr val="E8D4B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5B4A"/>
                </a:solidFill>
                <a:latin typeface="Calibri"/>
              </a:rPr>
              <a:t>Prepared for the CEO · Bright Coffee Shop Sales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5B4A"/>
                </a:solidFill>
                <a:latin typeface="Calibr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320040"/>
          </a:xfrm>
          <a:prstGeom prst="rect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8A4A"/>
                </a:solidFill>
                <a:latin typeface="Calibri"/>
              </a:rPr>
              <a:t>06 ·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840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5B4A"/>
                </a:solidFill>
                <a:latin typeface="Calibri"/>
              </a:rPr>
              <a:t>Bright Coffee · Sales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3B2414"/>
                </a:solidFill>
                <a:latin typeface="Calibri"/>
              </a:rPr>
              <a:t>Four moves to grow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5532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37160" cy="2148840"/>
          </a:xfrm>
          <a:prstGeom prst="rect">
            <a:avLst/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B2414"/>
                </a:solidFill>
                <a:latin typeface="Calibri"/>
              </a:rPr>
              <a:t>Lift AOV with bundles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Pair top drinks (Latte Rg, Cappuccino Lg) with a bakery item at a small discount to nudge the $4.67 AOV 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532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137160" cy="2148840"/>
          </a:xfrm>
          <a:prstGeom prst="rect">
            <a:avLst/>
          </a:prstGeom>
          <a:solidFill>
            <a:srgbClr val="6B3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B2414"/>
                </a:solidFill>
                <a:latin typeface="Calibri"/>
              </a:rPr>
              <a:t>Fill the weekend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Weekends underperform. Launch a Sat–Sun promo (family bundle, brunch pairing) to lift the softest 28% of revenue.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60520"/>
            <a:ext cx="5532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137160" cy="2148840"/>
          </a:xfrm>
          <a:prstGeom prst="rect">
            <a:avLst/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B2414"/>
                </a:solidFill>
                <a:latin typeface="Calibri"/>
              </a:rPr>
              <a:t>Double down on winners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Guarantee stock on the top 10 SKUs at all three stores — stock-outs on these directly cost revenue.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160520"/>
            <a:ext cx="553212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4160520"/>
            <a:ext cx="137160" cy="2148840"/>
          </a:xfrm>
          <a:prstGeom prst="rect">
            <a:avLst/>
          </a:prstGeom>
          <a:solidFill>
            <a:srgbClr val="6B3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38912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3B2414"/>
                </a:solidFill>
                <a:latin typeface="Calibri"/>
              </a:rPr>
              <a:t>Promote underperforming 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937760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5B4A"/>
                </a:solidFill>
                <a:latin typeface="Calibri"/>
              </a:rPr>
              <a:t>Packaged Chocolate &amp; Flavours drive &lt;2% of revenue. Test in-store sampling and register prompts.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5B4A"/>
                </a:solidFill>
                <a:latin typeface="Calibri"/>
              </a:rPr>
              <a:t>Prepared for the CEO · Bright Coffee Shop Sales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5B4A"/>
                </a:solidFill>
                <a:latin typeface="Calibr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88A4A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7F1E6"/>
                </a:solidFill>
                <a:latin typeface="Calibri"/>
              </a:rPr>
              <a:t>From insight to operating rhythm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137160" cy="685800"/>
          </a:xfrm>
          <a:prstGeom prst="rect">
            <a:avLst/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1E6"/>
                </a:solidFill>
                <a:latin typeface="Calibri"/>
              </a:rPr>
              <a:t>Automate daily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272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D4B4"/>
                </a:solidFill>
                <a:latin typeface="Calibri"/>
              </a:rPr>
              <a:t>Refresh the dashboard nightly from the source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137160" cy="685800"/>
          </a:xfrm>
          <a:prstGeom prst="rect">
            <a:avLst/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1E6"/>
                </a:solidFill>
                <a:latin typeface="Calibri"/>
              </a:rPr>
              <a:t>Track multi-location KPIs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502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D4B4"/>
                </a:solidFill>
                <a:latin typeface="Calibri"/>
              </a:rPr>
              <a:t>Add cohort views as new stores come online.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89120"/>
            <a:ext cx="137160" cy="685800"/>
          </a:xfrm>
          <a:prstGeom prst="rect">
            <a:avLst/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389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1E6"/>
                </a:solidFill>
                <a:latin typeface="Calibri"/>
              </a:rPr>
              <a:t>Launch a loyalty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7731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D4B4"/>
                </a:solidFill>
                <a:latin typeface="Calibri"/>
              </a:rPr>
              <a:t>Reward peak-time customers and grow visit frequency.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212080"/>
            <a:ext cx="137160" cy="685800"/>
          </a:xfrm>
          <a:prstGeom prst="rect">
            <a:avLst/>
          </a:prstGeom>
          <a:solidFill>
            <a:srgbClr val="C8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212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7F1E6"/>
                </a:solidFill>
                <a:latin typeface="Calibri"/>
              </a:rPr>
              <a:t>Iterate with the 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961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8D4B4"/>
                </a:solidFill>
                <a:latin typeface="Calibri"/>
              </a:rPr>
              <a:t>Give the CEO natural-language access to the data 24/7.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17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88A4A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